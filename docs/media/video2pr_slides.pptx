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A58948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</a:pPr>
            <a:r>
              <a:rPr sz="6000" b="1">
                <a:solidFill>
                  <a:srgbClr val="14253D"/>
                </a:solidFill>
                <a:latin typeface="Georgia"/>
              </a:rPr>
              <a:t>“It's broken.”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6B7685"/>
                </a:solidFill>
                <a:latin typeface="Arial"/>
              </a:rPr>
              <a:t>That's the whole bug report.</a:t>
            </a:r>
          </a:p>
          <a:p>
            <a:pPr algn="l">
              <a:spcAft>
                <a:spcPts val="1100"/>
              </a:spcAft>
            </a:pPr>
            <a:r>
              <a:rPr sz="2200" b="0">
                <a:solidFill>
                  <a:srgbClr val="6B7685"/>
                </a:solidFill>
                <a:latin typeface="Arial"/>
              </a:rPr>
              <a:t>No steps. No expected vs. actual. No page.</a:t>
            </a:r>
          </a:p>
          <a:p>
            <a:pPr algn="l">
              <a:spcAft>
                <a:spcPts val="1100"/>
              </a:spcAft>
            </a:pPr>
            <a:r>
              <a:rPr sz="2200" b="0">
                <a:solidFill>
                  <a:srgbClr val="6B7685"/>
                </a:solidFill>
                <a:latin typeface="Arial"/>
              </a:rPr>
              <a:t>Engineers spend the first hour just figuring out what the user saw.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097280"/>
            <a:ext cx="44805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234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0">
                <a:solidFill>
                  <a:srgbClr val="6B7685"/>
                </a:solidFill>
                <a:latin typeface="Arial"/>
              </a:rPr>
              <a:t>#support  ·  2:14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64592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600" b="1">
                <a:solidFill>
                  <a:srgbClr val="14253D"/>
                </a:solidFill>
                <a:latin typeface="Georgia"/>
              </a:rPr>
              <a:t>“checkout is wrong??</a:t>
            </a:r>
          </a:p>
          <a:p>
            <a:pPr algn="l">
              <a:spcAft>
                <a:spcPts val="1300"/>
              </a:spcAft>
            </a:pPr>
            <a:r>
              <a:rPr sz="2600" b="1">
                <a:solidFill>
                  <a:srgbClr val="14253D"/>
                </a:solidFill>
                <a:latin typeface="Georgia"/>
              </a:rPr>
              <a:t>pls fix asap”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566160"/>
            <a:ext cx="4480560" cy="914400"/>
          </a:xfrm>
          <a:prstGeom prst="round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9B83E"/>
                </a:solidFill>
                <a:latin typeface="Arial"/>
              </a:rPr>
              <a:t>But they can record it in 10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4253D"/>
                </a:solidFill>
                <a:latin typeface="Arial"/>
              </a:rPr>
              <a:t>Everyone has a phone. Nobody wants to write a ticket.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9B83E"/>
                </a:solidFill>
                <a:latin typeface="Arial"/>
              </a:rPr>
              <a:t>VIDEO2PR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0"/>
              </a:spcAft>
            </a:pPr>
            <a:r>
              <a:rPr sz="5400" b="1">
                <a:solidFill>
                  <a:srgbClr val="FFFFFF"/>
                </a:solidFill>
                <a:latin typeface="Georgia"/>
              </a:rPr>
              <a:t>Video in, PR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0">
                <a:solidFill>
                  <a:srgbClr val="C9D2DE"/>
                </a:solidFill>
                <a:latin typeface="Arial"/>
              </a:rPr>
              <a:t>Record a bug. Devin watches it, writes the bug report, fixes the code, and opens a pull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828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4253D"/>
                </a:solidFill>
                <a:latin typeface="Arial"/>
              </a:rPr>
              <a:t>Video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phone / screen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recording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7" y="3840480"/>
            <a:ext cx="283464" cy="365760"/>
          </a:xfrm>
          <a:prstGeom prst="rightArrow">
            <a:avLst/>
          </a:prstGeom>
          <a:solidFill>
            <a:srgbClr val="E9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71800" y="3291840"/>
            <a:ext cx="1828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4253D"/>
                </a:solidFill>
                <a:latin typeface="Arial"/>
              </a:rPr>
              <a:t>Frames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ffmpeg picks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key frames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4608" y="3840480"/>
            <a:ext cx="283464" cy="365760"/>
          </a:xfrm>
          <a:prstGeom prst="rightArrow">
            <a:avLst/>
          </a:prstGeom>
          <a:solidFill>
            <a:srgbClr val="E9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3291840"/>
            <a:ext cx="1828800" cy="1463040"/>
          </a:xfrm>
          <a:prstGeom prst="roundRect">
            <a:avLst/>
          </a:prstGeom>
          <a:solidFill>
            <a:srgbClr val="E9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4253D"/>
                </a:solidFill>
                <a:latin typeface="Arial"/>
              </a:rPr>
              <a:t>Bug report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Devin writes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steps + expected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04888" y="3840480"/>
            <a:ext cx="283464" cy="365760"/>
          </a:xfrm>
          <a:prstGeom prst="rightArrow">
            <a:avLst/>
          </a:prstGeom>
          <a:solidFill>
            <a:srgbClr val="E9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3291840"/>
            <a:ext cx="1828800" cy="1463040"/>
          </a:xfrm>
          <a:prstGeom prst="roundRect">
            <a:avLst/>
          </a:prstGeom>
          <a:solidFill>
            <a:srgbClr val="E9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4253D"/>
                </a:solidFill>
                <a:latin typeface="Arial"/>
              </a:rPr>
              <a:t>Repro + fix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Devin session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runs the app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5168" y="3840480"/>
            <a:ext cx="283464" cy="365760"/>
          </a:xfrm>
          <a:prstGeom prst="rightArrow">
            <a:avLst/>
          </a:prstGeom>
          <a:solidFill>
            <a:srgbClr val="E9B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3291840"/>
            <a:ext cx="1828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4253D"/>
                </a:solidFill>
                <a:latin typeface="Arial"/>
              </a:rPr>
              <a:t>Pull request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before / after</a:t>
            </a:r>
          </a:p>
          <a:p>
            <a:pPr algn="ctr"/>
            <a:r>
              <a:rPr sz="1600" b="0">
                <a:solidFill>
                  <a:srgbClr val="14253D"/>
                </a:solidFill>
                <a:latin typeface="Arial"/>
              </a:rPr>
              <a:t>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892040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E9B83E"/>
                </a:solidFill>
                <a:latin typeface="Arial"/>
              </a:rPr>
              <a:t>↑ one Devin session owns both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8E9BAE"/>
                </a:solidFill>
                <a:latin typeface="Arial"/>
              </a:rPr>
              <a:t>FastAPI  ·  ffmpeg  ·  Devin API (structured output + sessions)  ·  vanilla JS frontend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</a:pPr>
            <a:r>
              <a:rPr sz="6000" b="1">
                <a:solidFill>
                  <a:srgbClr val="FFFFFF"/>
                </a:solidFill>
                <a:latin typeface="Georgia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E9B83E"/>
                </a:solidFill>
                <a:latin typeface="Arial"/>
              </a:rPr>
              <a:t>GT Dining  →  record the bug  →  video2pr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A58948"/>
                </a:solidFill>
                <a:latin typeface="Arial"/>
              </a:rPr>
              <a:t>WHY DEVIN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4400" b="1">
                <a:solidFill>
                  <a:srgbClr val="14253D"/>
                </a:solidFill>
                <a:latin typeface="Georgia"/>
              </a:rPr>
              <a:t>One agent, the whole loop.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E9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4253D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470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4253D"/>
                </a:solidFill>
                <a:latin typeface="Arial"/>
              </a:rPr>
              <a:t>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6B7685"/>
                </a:solidFill>
                <a:latin typeface="Arial"/>
              </a:rPr>
              <a:t>Reads the video frames and writes a structured report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E9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4253D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07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4253D"/>
                </a:solidFill>
                <a:latin typeface="Arial"/>
              </a:rPr>
              <a:t>Reproduces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6B7685"/>
                </a:solidFill>
                <a:latin typeface="Arial"/>
              </a:rPr>
              <a:t>Opens the real app and follows the steps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E9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4253D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767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4253D"/>
                </a:solidFill>
                <a:latin typeface="Arial"/>
              </a:rPr>
              <a:t>Fixes + 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6B7685"/>
                </a:solidFill>
                <a:latin typeface="Arial"/>
              </a:rPr>
              <a:t>Commits the fix with before / after screenshots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E9B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4253D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727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4253D"/>
                </a:solidFill>
                <a:latin typeface="Arial"/>
              </a:rPr>
              <a:t>Human stays in 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6B7685"/>
                </a:solidFill>
                <a:latin typeface="Arial"/>
              </a:rPr>
              <a:t>Nothing merges without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828800"/>
            <a:ext cx="4754880" cy="3931920"/>
          </a:xfrm>
          <a:prstGeom prst="round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E9B83E"/>
                </a:solidFill>
                <a:latin typeface="Arial"/>
              </a:rPr>
              <a:t>WHERE IT PLUGS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6032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“Record a bug” button in any app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Support desk: customer videos → PRs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QA &amp; beta testers: no ticket writing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Parallel: 4 videos → 4 fixes at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B7685"/>
                </a:solidFill>
                <a:latin typeface="Arial"/>
              </a:rPr>
              <a:t>github.com/woodstock-thebrid/video2pr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
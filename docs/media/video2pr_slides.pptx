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0" r:id="rId11"/>
    <p:sldId id="258" r:id="rId9"/>
    <p:sldId id="261" r:id="rId12"/>
    <p:sldId id="262" r:id="rId13"/>
    <p:sldId id="263" r:id="rId14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A58948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</a:pPr>
            <a:r>
              <a:rPr sz="6000" b="1">
                <a:solidFill>
                  <a:srgbClr val="14253D"/>
                </a:solidFill>
                <a:latin typeface="Georgia"/>
              </a:rPr>
              <a:t>“It's broken.”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2200" b="0">
                <a:solidFill>
                  <a:srgbClr val="6B7685"/>
                </a:solidFill>
                <a:latin typeface="Arial"/>
              </a:rPr>
              <a:t>That's the whole bug report.</a:t>
            </a:r>
          </a:p>
          <a:p>
            <a:pPr algn="l">
              <a:spcAft>
                <a:spcPts val="1100"/>
              </a:spcAft>
            </a:pPr>
            <a:r>
              <a:rPr sz="2200" b="0">
                <a:solidFill>
                  <a:srgbClr val="6B7685"/>
                </a:solidFill>
                <a:latin typeface="Arial"/>
              </a:rPr>
              <a:t>No steps. No expected vs. actual. No page.</a:t>
            </a:r>
          </a:p>
          <a:p>
            <a:pPr algn="l">
              <a:spcAft>
                <a:spcPts val="1100"/>
              </a:spcAft>
            </a:pPr>
            <a:r>
              <a:rPr sz="2200" b="0">
                <a:solidFill>
                  <a:srgbClr val="6B7685"/>
                </a:solidFill>
                <a:latin typeface="Arial"/>
              </a:rPr>
              <a:t>Engineers spend the first hour just figuring out what the user saw.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0" y="1097280"/>
            <a:ext cx="448056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234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50"/>
              </a:spcAft>
            </a:pPr>
            <a:r>
              <a:rPr sz="1300" b="0">
                <a:solidFill>
                  <a:srgbClr val="6B7685"/>
                </a:solidFill>
                <a:latin typeface="Arial"/>
              </a:rPr>
              <a:t>#support  ·  2:14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64592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600" b="1">
                <a:solidFill>
                  <a:srgbClr val="14253D"/>
                </a:solidFill>
                <a:latin typeface="Georgia"/>
              </a:rPr>
              <a:t>“checkout is wrong??</a:t>
            </a:r>
          </a:p>
          <a:p>
            <a:pPr algn="l">
              <a:spcAft>
                <a:spcPts val="1300"/>
              </a:spcAft>
            </a:pPr>
            <a:r>
              <a:rPr sz="2600" b="1">
                <a:solidFill>
                  <a:srgbClr val="14253D"/>
                </a:solidFill>
                <a:latin typeface="Georgia"/>
              </a:rPr>
              <a:t>pls fix asap”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3566160"/>
            <a:ext cx="4480560" cy="914400"/>
          </a:xfrm>
          <a:prstGeom prst="roundRect">
            <a:avLst/>
          </a:prstGeom>
          <a:solidFill>
            <a:srgbClr val="14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9B83E"/>
                </a:solidFill>
                <a:latin typeface="Arial"/>
              </a:rPr>
              <a:t>But they can record it in 10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Everyone has a phone. Nobody wants to write a ticket.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9B83E"/>
                </a:solidFill>
                <a:latin typeface="Arial"/>
              </a:rPr>
              <a:t>VIDEO2PR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700"/>
              </a:spcAft>
            </a:pPr>
            <a:r>
              <a:rPr sz="5400" b="1">
                <a:solidFill>
                  <a:srgbClr val="FFFFFF"/>
                </a:solidFill>
                <a:latin typeface="Georgia"/>
              </a:rPr>
              <a:t>Video in, PR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2200" b="0">
                <a:solidFill>
                  <a:srgbClr val="C9D2DE"/>
                </a:solidFill>
                <a:latin typeface="Arial"/>
              </a:rPr>
              <a:t>Record a bug. Devin watches it, writes the bug report, fixes the code, and opens a pull request.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828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Video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“Report a bug”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button or any file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7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71800" y="3291840"/>
            <a:ext cx="1828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Frames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ffmpeg picks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key frames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64608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0" y="3291840"/>
            <a:ext cx="1828800" cy="1463040"/>
          </a:xfrm>
          <a:prstGeom prst="roundRect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Bug report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Devin writes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steps + expected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4888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360" y="3291840"/>
            <a:ext cx="1828800" cy="1463040"/>
          </a:xfrm>
          <a:prstGeom prst="roundRect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Repro + fix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Devin session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runs the app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45168" y="3840480"/>
            <a:ext cx="283464" cy="365760"/>
          </a:xfrm>
          <a:prstGeom prst="rightArrow">
            <a:avLst/>
          </a:prstGeom>
          <a:solidFill>
            <a:srgbClr val="E9B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92640" y="3291840"/>
            <a:ext cx="1828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4253D"/>
                </a:solidFill>
                <a:latin typeface="Arial"/>
              </a:rPr>
              <a:t>Pull request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before / after</a:t>
            </a:r>
          </a:p>
          <a:p>
            <a:pPr algn="ctr"/>
            <a:r>
              <a:rPr sz="1600" b="0">
                <a:solidFill>
                  <a:srgbClr val="14253D"/>
                </a:solidFill>
                <a:latin typeface="Arial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4892040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E9B83E"/>
                </a:solidFill>
                <a:latin typeface="Arial"/>
              </a:rPr>
              <a:t>↑ one Devin session owns both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8E9BAE"/>
                </a:solidFill>
                <a:latin typeface="Arial"/>
              </a:rPr>
              <a:t>FastAPI  ·  ffmpeg  ·  Devin API v1 (attachments · structured output · sessions)  ·  vanilla JS  ·  parallel sessions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</a:pPr>
            <a:r>
              <a:rPr sz="6000" b="1">
                <a:solidFill>
                  <a:srgbClr val="FFFFFF"/>
                </a:solidFill>
                <a:latin typeface="Georgia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>
                <a:solidFill>
                  <a:srgbClr val="E9B83E"/>
                </a:solidFill>
                <a:latin typeface="Arial"/>
              </a:rPr>
              <a:t>GT Dining  →  “Report a bug”  →  Devin  →  pull request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A58948"/>
                </a:solidFill>
                <a:latin typeface="Arial"/>
              </a:rPr>
              <a:t>WHY DEVIN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4400" b="1">
                <a:solidFill>
                  <a:srgbClr val="14253D"/>
                </a:solidFill>
                <a:latin typeface="Georgia"/>
              </a:rPr>
              <a:t>One agent, the whole loop.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470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240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Reads the video frames and writes a structured report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8072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Reproduces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004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Opens the real app and follows the steps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7673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Fixes + proves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1605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Commits the fix with before / after screenshots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800600"/>
            <a:ext cx="502920" cy="502920"/>
          </a:xfrm>
          <a:prstGeom prst="ellipse">
            <a:avLst/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4253D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274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4253D"/>
                </a:solidFill>
                <a:latin typeface="Arial"/>
              </a:rPr>
              <a:t>Human stays in charge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5120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>
                <a:solidFill>
                  <a:srgbClr val="6B7685"/>
                </a:solidFill>
                <a:latin typeface="Arial"/>
              </a:rPr>
              <a:t>Nothing merges without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828800"/>
            <a:ext cx="4754880" cy="3931920"/>
          </a:xfrm>
          <a:prstGeom prst="roundRect">
            <a:avLst/>
          </a:prstGeom>
          <a:solidFill>
            <a:srgbClr val="14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20116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9B83E"/>
                </a:solidFill>
                <a:latin typeface="Arial"/>
              </a:rPr>
              <a:t>WHERE IT PLUGS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560320"/>
            <a:ext cx="4206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“Report a bug” button: already built into the demo app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One click: Devin’s report → GitHub issue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Support desk: customer videos → PRs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• Parallel: 4 videos → 4 Devin sessions at once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35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685"/>
                </a:solidFill>
                <a:latin typeface="Arial"/>
              </a:rPr>
              <a:t>github.com/woodstock-thebrid/video2pr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STEP ZERO · INSIDE THE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One click. No ticket.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B7685"/>
                </a:solidFill>
                <a:latin typeface="Arial"/>
              </a:rPr>
              <a:t>One click starts a screen recording of the tab.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6B7685"/>
                </a:solidFill>
                <a:latin typeface="Arial"/>
              </a:rPr>
              <a:t>Stop &amp; send uploads it to video2pr automatically.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6B7685"/>
                </a:solidFill>
                <a:latin typeface="Arial"/>
              </a:rPr>
              <a:t>No typing. No file to find.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53D"/>
                </a:solidFill>
                <a:latin typeface="Arial"/>
              </a:rPr>
              <a:t>The user just shows what went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66944" y="1883664"/>
            <a:ext cx="6291072" cy="395935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mo-report-but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92024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9B83E"/>
                </a:solidFill>
                <a:latin typeface="Arial"/>
              </a:rPr>
              <a:t>REAL RUN · NO MOCK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Georgia"/>
              </a:rPr>
              <a:t>Video → PR in 1m 24s.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0:00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19842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Recording 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23774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from the “Report a bug” button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99232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0:33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0175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Devin writes the bug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341071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from the screenshots alone, no text hint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32504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32504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1:24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4050791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Devin opens the pull 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4443984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after reproducing and fixing in a browser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65776"/>
            <a:ext cx="1143000" cy="822960"/>
          </a:xfrm>
          <a:prstGeom prst="roundRect">
            <a:avLst>
              <a:gd name="adj" fmla="val 18000"/>
            </a:avLst>
          </a:prstGeom>
          <a:solidFill>
            <a:srgbClr val="E9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65776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4253D"/>
                </a:solidFill>
                <a:latin typeface="Arial"/>
              </a:rPr>
              <a:t>1:56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5084064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Before / after 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5477256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2DE"/>
                </a:solidFill>
                <a:latin typeface="Arial"/>
              </a:rPr>
              <a:t>screenshots, root cause and diff on the page</a:t>
            </a:r>
          </a:p>
        </p:txBody>
      </p:sp>
      <p:pic>
        <p:nvPicPr>
          <p:cNvPr id="20" name="Picture 19" descr="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74519"/>
            <a:ext cx="5394960" cy="39275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" y="6172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E9BAE"/>
                </a:solidFill>
                <a:latin typeface="Arial"/>
              </a:rPr>
              <a:t>Real Devin session on this repo · PR #14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PROOF, NOT PROMISES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Devin shows its 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837943"/>
            <a:ext cx="5074310" cy="455371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5001158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9516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4253D"/>
                </a:solidFill>
                <a:latin typeface="Arial"/>
              </a:rPr>
              <a:t>• Screenshot before the fix: 2 burgers, $12.50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Screenshot after the fix: $25.00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Root cause in plain English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The one-line diff in the PR</a:t>
            </a:r>
          </a:p>
          <a:p>
            <a:pPr>
              <a:spcBef>
                <a:spcPts val="900"/>
              </a:spcBef>
            </a:pPr>
            <a:r>
              <a:rPr sz="2000" b="0">
                <a:solidFill>
                  <a:srgbClr val="14253D"/>
                </a:solidFill>
                <a:latin typeface="Arial"/>
              </a:rPr>
              <a:t>• Click any image to go full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5394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58948"/>
                </a:solidFill>
                <a:latin typeface="Arial"/>
              </a:rPr>
              <a:t>A human reviews and merges. Nothing ships on its 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58948"/>
                </a:solidFill>
                <a:latin typeface="Arial"/>
              </a:rPr>
              <a:t>NOT A ONE-OFF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253D"/>
                </a:solidFill>
                <a:latin typeface="Georgia"/>
              </a:rPr>
              <a:t>Six real runs, six real PRs.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65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via “Report a bug”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313432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1m 24s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24328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burger qty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718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1m 25s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8269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82696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burger qty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630168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1m 35s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41063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41063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3 · multi-word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88536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PR in ~1m, frames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99431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99431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1 · first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946903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one-line 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57799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A58948"/>
                </a:solidFill>
                <a:latin typeface="Arial"/>
              </a:rPr>
              <a:t>#7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25779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4253D"/>
                </a:solidFill>
                <a:latin typeface="Arial"/>
              </a:rPr>
              <a:t>Bug 4 · double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605271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685"/>
                </a:solidFill>
                <a:latin typeface="Arial"/>
              </a:rPr>
              <a:t>Devin read it as “cart not cleared”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989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58948"/>
                </a:solidFill>
                <a:latin typeface="Arial"/>
              </a:rPr>
              <a:t>#7 is why a human reviews every PR.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49824" y="1883664"/>
            <a:ext cx="6108192" cy="4850892"/>
          </a:xfrm>
          <a:prstGeom prst="rect">
            <a:avLst/>
          </a:prstGeom>
          <a:solidFill>
            <a:srgbClr val="D9D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20240"/>
            <a:ext cx="6035040" cy="47777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
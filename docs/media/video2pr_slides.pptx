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58" r:id="rId9"/>
    <p:sldId id="264" r:id="rId15"/>
    <p:sldId id="261" r:id="rId12"/>
    <p:sldId id="262" r:id="rId13"/>
    <p:sldId id="265" r:id="rId16"/>
    <p:sldId id="263" r:id="rId14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58948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</a:pPr>
            <a:r>
              <a:rPr sz="6000" b="1">
                <a:solidFill>
                  <a:srgbClr val="14253D"/>
                </a:solidFill>
                <a:latin typeface="Georgia"/>
              </a:rPr>
              <a:t>“It's broken.”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That's the whole bug report.</a:t>
            </a:r>
          </a:p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No steps. No expected vs. actual. No page.</a:t>
            </a:r>
          </a:p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Engineers spend the first hour just figuring out what the user saw.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097280"/>
            <a:ext cx="448056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50"/>
              </a:spcAft>
            </a:pPr>
            <a:r>
              <a:rPr sz="1300" b="0">
                <a:solidFill>
                  <a:srgbClr val="6B7685"/>
                </a:solidFill>
                <a:latin typeface="Arial"/>
              </a:rPr>
              <a:t>#support  ·  2:14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64592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600" b="1">
                <a:solidFill>
                  <a:srgbClr val="14253D"/>
                </a:solidFill>
                <a:latin typeface="Georgia"/>
              </a:rPr>
              <a:t>“checkout is wrong??</a:t>
            </a:r>
          </a:p>
          <a:p>
            <a:pPr algn="l">
              <a:spcAft>
                <a:spcPts val="1300"/>
              </a:spcAft>
            </a:pPr>
            <a:r>
              <a:rPr sz="2600" b="1">
                <a:solidFill>
                  <a:srgbClr val="14253D"/>
                </a:solidFill>
                <a:latin typeface="Georgia"/>
              </a:rPr>
              <a:t>pls fix asap”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3566160"/>
            <a:ext cx="4480560" cy="914400"/>
          </a:xfrm>
          <a:prstGeom prst="roundRect">
            <a:avLst/>
          </a:prstGeom>
          <a:solidFill>
            <a:srgbClr val="14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9B83E"/>
                </a:solidFill>
                <a:latin typeface="Arial"/>
              </a:rPr>
              <a:t>But they can record it in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Everyone has a phone. Nobody wants to write a ticket.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VIDEO2PR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70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Video in, PR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2200" b="0">
                <a:solidFill>
                  <a:srgbClr val="C9D2DE"/>
                </a:solidFill>
                <a:latin typeface="Arial"/>
              </a:rPr>
              <a:t>Record a bug. Devin watches it, writes the bug report, fixes the code, and opens a pull request.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Video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“Report a bug”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button or any file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7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7180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Frames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ffmpeg picks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key frames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3291840"/>
            <a:ext cx="1828800" cy="1463040"/>
          </a:xfrm>
          <a:prstGeom prst="roundRect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Bug report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Devin writes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steps + expected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488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3291840"/>
            <a:ext cx="1828800" cy="1463040"/>
          </a:xfrm>
          <a:prstGeom prst="roundRect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Repro + fix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Devin session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runs the app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4516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9264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Pull request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before / after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892040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↑ one Devin session owns both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8E9BAE"/>
                </a:solidFill>
                <a:latin typeface="Arial"/>
              </a:rPr>
              <a:t>FastAPI  ·  ffmpeg  ·  Devin API v1 (attachments · structured output · sessions)  ·  vanilla JS  ·  parallel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</a:pPr>
            <a:r>
              <a:rPr sz="6000" b="1">
                <a:solidFill>
                  <a:srgbClr val="FFFFFF"/>
                </a:solidFill>
                <a:latin typeface="Georgi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>
                <a:solidFill>
                  <a:srgbClr val="E9B83E"/>
                </a:solidFill>
                <a:latin typeface="Arial"/>
              </a:rPr>
              <a:t>GT Dining  →  “Report a bug”  →  Devin  →  pull request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58948"/>
                </a:solidFill>
                <a:latin typeface="Arial"/>
              </a:rPr>
              <a:t>WHY DEVIN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4400" b="1">
                <a:solidFill>
                  <a:srgbClr val="14253D"/>
                </a:solidFill>
                <a:latin typeface="Georgia"/>
              </a:rPr>
              <a:t>One agent, the whole loop.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470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240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Reads the video frames and writes a structured report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072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Reproduces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00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Opens the real app and follows the steps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673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Fixes + proves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60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Commits the fix with before / after screenshots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80060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274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Human stays in charge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120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Nothing merges without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828800"/>
            <a:ext cx="4754880" cy="3931920"/>
          </a:xfrm>
          <a:prstGeom prst="roundRect">
            <a:avLst/>
          </a:prstGeom>
          <a:solidFill>
            <a:srgbClr val="14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WHERE IT PLUGS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560320"/>
            <a:ext cx="4206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“Report a bug” button: already built into the demo app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One click: Devin’s report → GitHub issue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Support desk: customer videos → PRs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Parallel: 4 videos → 4 Devin sessions at once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685"/>
                </a:solidFill>
                <a:latin typeface="Arial"/>
              </a:rPr>
              <a:t>github.com/woodstock-thebrid/video2pr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STEP ZERO · INSIDE 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One click. No ticket.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B7685"/>
                </a:solidFill>
                <a:latin typeface="Arial"/>
              </a:rPr>
              <a:t>One click starts a screen recording of the tab.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6B7685"/>
                </a:solidFill>
                <a:latin typeface="Arial"/>
              </a:rPr>
              <a:t>Stop &amp; send uploads it to video2pr automatically.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6B7685"/>
                </a:solidFill>
                <a:latin typeface="Arial"/>
              </a:rPr>
              <a:t>No typing. No file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53D"/>
                </a:solidFill>
                <a:latin typeface="Arial"/>
              </a:rPr>
              <a:t>The user just shows what went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66944" y="1883664"/>
            <a:ext cx="6291072" cy="395935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mo-report-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202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9B83E"/>
                </a:solidFill>
                <a:latin typeface="Arial"/>
              </a:rPr>
              <a:t>REAL RUN · NO MOCK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Video → PR in 1m 24s.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9842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Recording 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23774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from the “Report a bug” button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99232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0:33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0175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Devin writes the bug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341071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from the screenshots alone, no text hint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32504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32504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1:24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4050791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Devin opens the pull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444398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after reproducing and fixing in a browser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65776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65776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1:56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508406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Before / after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47725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screenshots, root cause and diff on the page</a:t>
            </a:r>
          </a:p>
        </p:txBody>
      </p:sp>
      <p:pic>
        <p:nvPicPr>
          <p:cNvPr id="20" name="Picture 19" descr="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74519"/>
            <a:ext cx="5394960" cy="39275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E9BAE"/>
                </a:solidFill>
                <a:latin typeface="Arial"/>
              </a:rPr>
              <a:t>Real Devin session on this repo · PR #14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PROOF, NOT PROMISES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Devin shows its 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837943"/>
            <a:ext cx="5074310" cy="455371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00115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4253D"/>
                </a:solidFill>
                <a:latin typeface="Arial"/>
              </a:rPr>
              <a:t>• Screenshot before the fix: 2 burgers, $12.50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Screenshot after the fix: $25.00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Root cause in plain English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The one-line diff in the PR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Click any image to go full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5394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58948"/>
                </a:solidFill>
                <a:latin typeface="Arial"/>
              </a:rPr>
              <a:t>A human reviews and merges. Nothing ships on its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NOT A ONE-OFF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Six real runs, six real PRs.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65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via “Report a bug”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31343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24s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2432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burger qty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25s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8269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82696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burger qty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3016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35s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41063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4106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3 · multi-word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88536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~1m, frames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99431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99431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first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946903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one-line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57799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2577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4 · double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605271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Devin read it as “cart not cleared”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58948"/>
                </a:solidFill>
                <a:latin typeface="Arial"/>
              </a:rPr>
              <a:t>#7 is why a human reviews every PR.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9824" y="1883664"/>
            <a:ext cx="6108192" cy="485089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20240"/>
            <a:ext cx="6035040" cy="47777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9B83E"/>
                </a:solidFill>
                <a:latin typeface="Arial"/>
              </a:rPr>
              <a:t>DEMO VIDEO · REAL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Watch it run, end to end.</a:t>
            </a:r>
          </a:p>
        </p:txBody>
      </p:sp>
      <p:pic>
        <p:nvPicPr>
          <p:cNvPr id="4" name="real_mode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09063" y="1645920"/>
            <a:ext cx="7973568" cy="4983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AT SCALE · ONE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Many videos. Straight to GitHub.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837943"/>
            <a:ext cx="5285232" cy="3678500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212080" cy="36053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27064" y="1837943"/>
            <a:ext cx="5285232" cy="333070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al-mode-github-issue-pre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4519"/>
            <a:ext cx="5212080" cy="3257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623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4253D"/>
                </a:solidFill>
                <a:latin typeface="Arial"/>
              </a:rPr>
              <a:t>Drop 4 videos → 4 Devin sessions run in parallel, each with its own report and PR. (Shown in backup mode.)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623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4253D"/>
                </a:solidFill>
                <a:latin typeface="Arial"/>
              </a:rPr>
              <a:t>“Open as GitHub issue” prefills title + body from Devin’s report. “Copy as Markdown” for any tracker.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